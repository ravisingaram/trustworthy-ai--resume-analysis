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309a86b1d4d02" /><Relationship Type="http://schemas.openxmlformats.org/officeDocument/2006/relationships/extended-properties" Target="/docProps/app.xml" Id="R8e72c71342ed4783" /><Relationship Type="http://schemas.openxmlformats.org/officeDocument/2006/relationships/officeDocument" Target="/ppt/presentation.xml" Id="Ra7393ecf47c444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8a8ad6bb14732"/>
  </p:sldMasterIdLst>
  <p:notesMasterIdLst>
    <p:notesMasterId xmlns:r="http://schemas.openxmlformats.org/officeDocument/2006/relationships" r:id="R67ca72f1f0124d35"/>
  </p:notesMasterIdLst>
  <p:sldIdLst>
    <p:sldId xmlns:r="http://schemas.openxmlformats.org/officeDocument/2006/relationships" id="256" r:id="R8099b37c7a8b419c"/>
    <p:sldId xmlns:r="http://schemas.openxmlformats.org/officeDocument/2006/relationships" id="257" r:id="R9f15308abfa044a8"/>
    <p:sldId xmlns:r="http://schemas.openxmlformats.org/officeDocument/2006/relationships" id="258" r:id="R4645110aebf54a00"/>
    <p:sldId xmlns:r="http://schemas.openxmlformats.org/officeDocument/2006/relationships" id="259" r:id="Rc5582f88edb940f1"/>
    <p:sldId xmlns:r="http://schemas.openxmlformats.org/officeDocument/2006/relationships" id="260" r:id="R3df7d7426d05458b"/>
    <p:sldId xmlns:r="http://schemas.openxmlformats.org/officeDocument/2006/relationships" id="261" r:id="R9abacc8deae24376"/>
    <p:sldId xmlns:r="http://schemas.openxmlformats.org/officeDocument/2006/relationships" id="262" r:id="Rc453901384584913"/>
    <p:sldId xmlns:r="http://schemas.openxmlformats.org/officeDocument/2006/relationships" id="263" r:id="R7a0d742aa5cc49e3"/>
    <p:sldId xmlns:r="http://schemas.openxmlformats.org/officeDocument/2006/relationships" id="264" r:id="R2521497082a24cd0"/>
    <p:sldId xmlns:r="http://schemas.openxmlformats.org/officeDocument/2006/relationships" id="265" r:id="R4b701ea4d9ad43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52f8176d7049e2" /><Relationship Type="http://schemas.openxmlformats.org/officeDocument/2006/relationships/slideMaster" Target="/ppt/slideMasters/slideMaster1.xml" Id="R2f28a8ad6bb14732" /><Relationship Type="http://schemas.openxmlformats.org/officeDocument/2006/relationships/notesMaster" Target="/ppt/notesMasters/notesMaster1.xml" Id="R67ca72f1f0124d35" /><Relationship Type="http://schemas.openxmlformats.org/officeDocument/2006/relationships/presProps" Target="/ppt/presProps.xml" Id="R4a0fed2257c24ad6" /><Relationship Type="http://schemas.openxmlformats.org/officeDocument/2006/relationships/tableStyles" Target="/ppt/tableStyles.xml" Id="R88d5e4df03404957" /><Relationship Type="http://schemas.openxmlformats.org/officeDocument/2006/relationships/slide" Target="/ppt/slides/slide1.xml" Id="R8099b37c7a8b419c" /><Relationship Type="http://schemas.openxmlformats.org/officeDocument/2006/relationships/slide" Target="/ppt/slides/slide2.xml" Id="R9f15308abfa044a8" /><Relationship Type="http://schemas.openxmlformats.org/officeDocument/2006/relationships/slide" Target="/ppt/slides/slide3.xml" Id="R4645110aebf54a00" /><Relationship Type="http://schemas.openxmlformats.org/officeDocument/2006/relationships/slide" Target="/ppt/slides/slide4.xml" Id="Rc5582f88edb940f1" /><Relationship Type="http://schemas.openxmlformats.org/officeDocument/2006/relationships/slide" Target="/ppt/slides/slide5.xml" Id="R3df7d7426d05458b" /><Relationship Type="http://schemas.openxmlformats.org/officeDocument/2006/relationships/slide" Target="/ppt/slides/slide6.xml" Id="R9abacc8deae24376" /><Relationship Type="http://schemas.openxmlformats.org/officeDocument/2006/relationships/slide" Target="/ppt/slides/slide7.xml" Id="Rc453901384584913" /><Relationship Type="http://schemas.openxmlformats.org/officeDocument/2006/relationships/slide" Target="/ppt/slides/slide8.xml" Id="R7a0d742aa5cc49e3" /><Relationship Type="http://schemas.openxmlformats.org/officeDocument/2006/relationships/slide" Target="/ppt/slides/slide9.xml" Id="R2521497082a24cd0" /><Relationship Type="http://schemas.openxmlformats.org/officeDocument/2006/relationships/slide" Target="/ppt/slides/slide10.xml" Id="R4b701ea4d9ad43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abadb49af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c314782d84ab3" /><Relationship Type="http://schemas.openxmlformats.org/officeDocument/2006/relationships/notesMaster" Target="/ppt/notesMasters/notesMaster1.xml" Id="R6b4b000662d847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ca5da2d6644cf6" /><Relationship Type="http://schemas.openxmlformats.org/officeDocument/2006/relationships/notesMaster" Target="/ppt/notesMasters/notesMaster1.xml" Id="Rdcb4e84b17124f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bcf0e8407949f0" /><Relationship Type="http://schemas.openxmlformats.org/officeDocument/2006/relationships/notesMaster" Target="/ppt/notesMasters/notesMaster1.xml" Id="R5c9e368169a64d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96f5e36aa74905" /><Relationship Type="http://schemas.openxmlformats.org/officeDocument/2006/relationships/notesMaster" Target="/ppt/notesMasters/notesMaster1.xml" Id="R96b24c5d189146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b6dc5c02f4683" /><Relationship Type="http://schemas.openxmlformats.org/officeDocument/2006/relationships/notesMaster" Target="/ppt/notesMasters/notesMaster1.xml" Id="Rfae70df6d8184c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93500609994add" /><Relationship Type="http://schemas.openxmlformats.org/officeDocument/2006/relationships/notesMaster" Target="/ppt/notesMasters/notesMaster1.xml" Id="R2473ed3b215049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52c481887c4484" /><Relationship Type="http://schemas.openxmlformats.org/officeDocument/2006/relationships/notesMaster" Target="/ppt/notesMasters/notesMaster1.xml" Id="R55238fee2d3b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f25abe761e41dd" /><Relationship Type="http://schemas.openxmlformats.org/officeDocument/2006/relationships/notesMaster" Target="/ppt/notesMasters/notesMaster1.xml" Id="Rce5e4cd0022d41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d5e55a879a40bb" /><Relationship Type="http://schemas.openxmlformats.org/officeDocument/2006/relationships/notesMaster" Target="/ppt/notesMasters/notesMaster1.xml" Id="Rd891a41d691d4e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6133de1fd3478f" /><Relationship Type="http://schemas.openxmlformats.org/officeDocument/2006/relationships/notesMaster" Target="/ppt/notesMasters/notesMaster1.xml" Id="R7ea7ffb414ea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outputs/qwen_v2_n100_mps/run_manifest.json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src/trustworthy_resume/audits.py</a:t>
            </a:r>
          </a:p>
          <a:p xmlns:a="http://schemas.openxmlformats.org/drawingml/2006/main">
            <a:r>
              <a:t>- src/trustworthy_resume/pipeline.py</a:t>
            </a:r>
          </a:p>
          <a:p xmlns:a="http://schemas.openxmlformats.org/drawingml/2006/main">
            <a:r>
              <a:t>- src/trustworthy_resume/experiment.py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outputs/qwen_v2_n100_mps/run_manifest.json</a:t>
            </a:r>
          </a:p>
          <a:p xmlns:a="http://schemas.openxmlformats.org/drawingml/2006/main">
            <a:r>
              <a:t>- outputs/qwen_v2_n100_mps/headline_metrics.json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outputs/qwen_v2_n100_mps/robustness_summary.csv</a:t>
            </a:r>
          </a:p>
          <a:p xmlns:a="http://schemas.openxmlformats.org/drawingml/2006/main">
            <a:r>
              <a:t>- outputs/qwen_v2_n100_mps/headline_metrics.json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outputs/qwen_v2_n100_mps/fairness_bootstrap_ci.csv</a:t>
            </a:r>
          </a:p>
          <a:p xmlns:a="http://schemas.openxmlformats.org/drawingml/2006/main">
            <a:r>
              <a:t>- outputs/qwen_v2_n100_mps/headline_metrics.json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outputs/qwen_v2_n100_mps/explainability_audit.csv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outputs/qwen_v2_n100_mps/metamorphic_test_results.csv</a:t>
            </a:r>
          </a:p>
          <a:p xmlns:a="http://schemas.openxmlformats.org/drawingml/2006/main">
            <a:r>
              <a:t>- outputs/qwen_v2_n100_mps/repeatability_results.csv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outputs/qwen_v2_n100_mps/qualification_reliability.csv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outputs/qwen_v2_n100_mps/governance_summary.csv</a:t>
            </a:r>
          </a:p>
          <a:p xmlns:a="http://schemas.openxmlformats.org/drawingml/2006/main">
            <a:r>
              <a:t>- outputs/qwen_v2_n100_mps/policy_config.json</a:t>
            </a:r>
          </a:p>
          <a:p xmlns:a="http://schemas.openxmlformats.org/drawingml/2006/main">
            <a:r>
              <a:t>- outputs/qwen_v2_n100_mps/audit_log.jsonl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docs/Trustworthy_AI_New_Features_Report.md</a:t>
            </a:r>
          </a:p>
          <a:p xmlns:a="http://schemas.openxmlformats.org/drawingml/2006/main">
            <a:r>
              <a:t>- outputs/qwen_v2_n100_mps/headline_metrics.json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5faf385534f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656eea69c4901" /><Relationship Type="http://schemas.openxmlformats.org/officeDocument/2006/relationships/slideLayout" Target="/ppt/slideLayouts/slideLayout1.xml" Id="R1dee4540a89e4f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ee4540a89e4f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c3a83ba9b41e4" /><Relationship Type="http://schemas.openxmlformats.org/officeDocument/2006/relationships/notesSlide" Target="/ppt/notesSlides/notesSlide1.xml" Id="Rcaca1989b0bd4c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35e0665194e12" /><Relationship Type="http://schemas.openxmlformats.org/officeDocument/2006/relationships/notesSlide" Target="/ppt/notesSlides/notesSlide2.xml" Id="R7265aae0814c4a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fd94424f140eb" /><Relationship Type="http://schemas.openxmlformats.org/officeDocument/2006/relationships/notesSlide" Target="/ppt/notesSlides/notesSlide3.xml" Id="Rf72e88080fe54a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3e4198c424cc6" /><Relationship Type="http://schemas.openxmlformats.org/officeDocument/2006/relationships/chart" Target="/ppt/slides/charts/chart1.xml" Id="R634e7c24e93a411d" /><Relationship Type="http://schemas.openxmlformats.org/officeDocument/2006/relationships/notesSlide" Target="/ppt/notesSlides/notesSlide4.xml" Id="Re20bc2f9c8d841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54b6843694e67" /><Relationship Type="http://schemas.openxmlformats.org/officeDocument/2006/relationships/chart" Target="/ppt/slides/charts/chart2.xml" Id="Rb731b0741467456a" /><Relationship Type="http://schemas.openxmlformats.org/officeDocument/2006/relationships/notesSlide" Target="/ppt/notesSlides/notesSlide5.xml" Id="R547a3d667dff46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c5fc95c3c4c4e" /><Relationship Type="http://schemas.openxmlformats.org/officeDocument/2006/relationships/notesSlide" Target="/ppt/notesSlides/notesSlide6.xml" Id="R5403a5e6e68a4b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31131158540f5" /><Relationship Type="http://schemas.openxmlformats.org/officeDocument/2006/relationships/chart" Target="/ppt/slides/charts/chart3.xml" Id="R6f71e56989ba451f" /><Relationship Type="http://schemas.openxmlformats.org/officeDocument/2006/relationships/notesSlide" Target="/ppt/notesSlides/notesSlide7.xml" Id="R662f0d7fa39240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b4ccf1f744e33" /><Relationship Type="http://schemas.openxmlformats.org/officeDocument/2006/relationships/chart" Target="/ppt/slides/charts/chart4.xml" Id="R8ca63ca70a434aea" /><Relationship Type="http://schemas.openxmlformats.org/officeDocument/2006/relationships/notesSlide" Target="/ppt/notesSlides/notesSlide8.xml" Id="Rff59c3e8b2e444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c2c4a11dc4ebf" /><Relationship Type="http://schemas.openxmlformats.org/officeDocument/2006/relationships/notesSlide" Target="/ppt/notesSlides/notesSlide9.xml" Id="Rd1a60daf648343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2e6094b74fe0" /><Relationship Type="http://schemas.openxmlformats.org/officeDocument/2006/relationships/notesSlide" Target="/ppt/notesSlides/notesSlide10.xml" Id="R1e606a0cf11e42f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 ASR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Direct
injection</c:v>
              </c:pt>
              <c:pt idx="1">
                <c:v>Keyword
stuffing</c:v>
              </c:pt>
              <c:pt idx="2">
                <c:v>Resume
inflation</c:v>
              </c:pt>
              <c:pt idx="3">
                <c:v>Role-play
injection</c:v>
              </c:pt>
            </c:strLit>
          </c:cat>
          <c:val>
            <c:numLit>
              <c:formatCode>General</c:formatCode>
              <c:ptCount val="4"/>
              <c:pt idx="0">
                <c:v>96.77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</c:numLit>
          </c:val>
        </c:ser>
        <c:ser>
          <c:idx val="1"/>
          <c:order val="1"/>
          <c:tx>
            <c:v>Defended ASR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Direct
injection</c:v>
              </c:pt>
              <c:pt idx="1">
                <c:v>Keyword
stuffing</c:v>
              </c:pt>
              <c:pt idx="2">
                <c:v>Resume
inflation</c:v>
              </c:pt>
              <c:pt idx="3">
                <c:v>Role-play
injection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82.76</c:v>
              </c:pt>
              <c:pt idx="2">
                <c:v>21.05</c:v>
              </c:pt>
              <c:pt idx="3">
                <c:v>83.33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B5563"/>
                    </a:solidFill>
                  </a:rPr>
                  <a:t>Attack success rate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B556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 raw gap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Age</c:v>
              </c:pt>
              <c:pt idx="1">
                <c:v>Ethnicity</c:v>
              </c:pt>
              <c:pt idx="2">
                <c:v>Gender</c:v>
              </c:pt>
              <c:pt idx="3">
                <c:v>Marital
status</c:v>
              </c:pt>
              <c:pt idx="4">
                <c:v>Religion</c:v>
              </c:pt>
            </c:strLit>
          </c:cat>
          <c:val>
            <c:numLit>
              <c:formatCode>General</c:formatCode>
              <c:ptCount val="5"/>
              <c:pt idx="0">
                <c:v>7.5</c:v>
              </c:pt>
              <c:pt idx="1">
                <c:v>0</c:v>
              </c:pt>
              <c:pt idx="2">
                <c:v>2</c:v>
              </c:pt>
              <c:pt idx="3">
                <c:v>2</c:v>
              </c:pt>
              <c:pt idx="4">
                <c:v>0</c:v>
              </c:pt>
            </c:numLit>
          </c:val>
        </c:ser>
        <c:ser>
          <c:idx val="1"/>
          <c:order val="1"/>
          <c:tx>
            <c:v>Defended raw gap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Age</c:v>
              </c:pt>
              <c:pt idx="1">
                <c:v>Ethnicity</c:v>
              </c:pt>
              <c:pt idx="2">
                <c:v>Gender</c:v>
              </c:pt>
              <c:pt idx="3">
                <c:v>Marital
status</c:v>
              </c:pt>
              <c:pt idx="4">
                <c:v>Religion</c:v>
              </c:pt>
            </c:strLit>
          </c:cat>
          <c:val>
            <c:numLit>
              <c:formatCode>General</c:formatCode>
              <c:ptCount val="5"/>
              <c:pt idx="0">
                <c:v>1.4</c:v>
              </c:pt>
              <c:pt idx="1">
                <c:v>1</c:v>
              </c:pt>
              <c:pt idx="2">
                <c:v>1.3</c:v>
              </c:pt>
              <c:pt idx="3">
                <c:v>0.6</c:v>
              </c:pt>
              <c:pt idx="4">
                <c:v>1.1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B5563"/>
                    </a:solidFill>
                  </a:rPr>
                  <a:t>Mean absolute score gap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B556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 pass rate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Neutral padding</c:v>
              </c:pt>
              <c:pt idx="1">
                <c:v>Section reorder</c:v>
              </c:pt>
            </c:strLit>
          </c:cat>
          <c:val>
            <c:numLit>
              <c:formatCode>General</c:formatCode>
              <c:ptCount val="2"/>
              <c:pt idx="0">
                <c:v>60</c:v>
              </c:pt>
              <c:pt idx="1">
                <c:v>90</c:v>
              </c:pt>
            </c:numLit>
          </c:val>
        </c:ser>
        <c:ser>
          <c:idx val="1"/>
          <c:order val="1"/>
          <c:tx>
            <c:v>Defended pass rate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Neutral padding</c:v>
              </c:pt>
              <c:pt idx="1">
                <c:v>Section reorder</c:v>
              </c:pt>
            </c:strLit>
          </c:cat>
          <c:val>
            <c:numLit>
              <c:formatCode>General</c:formatCode>
              <c:ptCount val="2"/>
              <c:pt idx="0">
                <c:v>60</c:v>
              </c:pt>
              <c:pt idx="1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B5563"/>
                    </a:solidFill>
                  </a:rPr>
                  <a:t>Metamorphic pass rate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B556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Spearman</c:v>
              </c:pt>
              <c:pt idx="1">
                <c:v>Kendall</c:v>
              </c:pt>
              <c:pt idx="2">
                <c:v>NDCG</c:v>
              </c:pt>
            </c:strLit>
          </c:cat>
          <c:val>
            <c:numLit>
              <c:formatCode>General</c:formatCode>
              <c:ptCount val="3"/>
              <c:pt idx="0">
                <c:v>77.7</c:v>
              </c:pt>
              <c:pt idx="1">
                <c:v>72.4</c:v>
              </c:pt>
              <c:pt idx="2">
                <c:v>93.1</c:v>
              </c:pt>
            </c:numLit>
          </c:val>
        </c:ser>
        <c:ser>
          <c:idx val="1"/>
          <c:order val="1"/>
          <c:tx>
            <c:v>Defended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Spearman</c:v>
              </c:pt>
              <c:pt idx="1">
                <c:v>Kendall</c:v>
              </c:pt>
              <c:pt idx="2">
                <c:v>NDCG</c:v>
              </c:pt>
            </c:strLit>
          </c:cat>
          <c:val>
            <c:numLit>
              <c:formatCode>General</c:formatCode>
              <c:ptCount val="3"/>
              <c:pt idx="0">
                <c:v>89.4</c:v>
              </c:pt>
              <c:pt idx="1">
                <c:v>78.1</c:v>
              </c:pt>
              <c:pt idx="2">
                <c:v>98.9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B5563"/>
                    </a:solidFill>
                  </a:rPr>
                  <a:t>Score (×100)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B556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144EA0A-5D41-4A0E-A42A-AE0BE966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assurance layers
for safer resume analysis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8FE612D-97C2-414A-B024-CA9EB46E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Fairness · Explainability · Verification · Governance
100-candidate Qwen3-0.6B benchmark on Apple MPS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3115C16-4BC7-4BFF-886D-D9C5A4E8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TRUSTWORTHY AI · RESUME ANALYSIS</a:t>
            </a:r>
          </a:p>
        </p:txBody>
      </p:sp>
    </p:spTree>
    <p:extLst>
      <p:ext uri="{BB962C8B-B14F-4D97-AF65-F5344CB8AC3E}">
        <p14:creationId xmlns:p14="http://schemas.microsoft.com/office/powerpoint/2010/main" val="11707082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7944799-655D-4820-B0F8-1F5429C3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6D8A191-C082-4B7E-BD67-F034A115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scorer now produces evidence, tests, and policy controls—not only a score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3C8AC3A-FCFF-4CE9-85E8-66C9E4C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Fairness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Matched-pair counterfactual resumes, protected-attribute masking, group metrics, and bootstrap confidence intervals.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A7B454E-B6B9-4581-AD9B-6C5CCFE5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Explainability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Rubric sub-scores, source evidence, concerns, uncertainty reasons, and an automated evidence-validity audit.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4743FD1-647F-43D7-8F7C-D0F553E9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Verification &amp; reliability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Adversarial attacks, ranking quality, metamorphic transformations, repeatability, failures, and JSON retries.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288CEF9-AD21-4400-AE5E-7A60BB5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Governance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No automated hiring decisions, mandatory review triggers, audit logs, prompt hashes, and reproducible manifests.</a:t>
            </a:r>
          </a:p>
        </p:txBody>
      </p:sp>
    </p:spTree>
    <p:extLst>
      <p:ext uri="{BB962C8B-B14F-4D97-AF65-F5344CB8AC3E}">
        <p14:creationId xmlns:p14="http://schemas.microsoft.com/office/powerpoint/2010/main" val="382257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3B2171C-7433-47A2-9741-DC8BF333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B3FB8B7-57B2-4546-B706-DE58EB3B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controlled benchmark connects synthetic resumes to auditable outcomes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B6369D1-67EE-4F39-B355-12BF8374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E965F3C-D869-4808-8B0B-2A83017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F74D70E-3D79-46AB-9523-944B959A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1D64135-4838-4F82-BC2D-D5B49821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6DD838A-8DEC-4C74-878A-C4120990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MODEL PIPELINES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5DAAFBD-B97D-4CD6-8F9D-518971F3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ASSURANCE OUTPUTS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65C624E-F6B5-4CB7-9AA7-6C8CEC66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Baseline vs defended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Qwen3-0.6B with greedy decoding. The defended path separates extraction from rubric scoring.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6DD8F66-2E58-487B-AE33-6232B5CD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 candidates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110 attacks, 100 fairness variants, five protected attributes, and repeated reliability cases.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50ED96E-2BC5-4D5C-8134-2322B1B4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Traceable evidence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CSV and JSON summaries, JSONL checkpoints, a review queue, an audit log, and a complete run manifest.</a:t>
            </a:r>
          </a:p>
        </p:txBody>
      </p:sp>
    </p:spTree>
    <p:extLst>
      <p:ext uri="{BB962C8B-B14F-4D97-AF65-F5344CB8AC3E}">
        <p14:creationId xmlns:p14="http://schemas.microsoft.com/office/powerpoint/2010/main" val="16585667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93FAC-5E4E-43D9-B9D9-C4D39B96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3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defended pipeline cut overall attack success by 60.91 percentage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97BB7-0973-4878-B05F-11F0CEB6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6858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4e7c24e93a411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0E275-E9CC-4D9F-AFF1-8BE3D355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ABA9E-CF6E-4622-A397-665A1790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906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99.09% → 38.18%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009E5-C8C0-4CB7-AB38-66257CEE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Overall attack success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8EFDC-34FA-4980-A2C7-0F4BB142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04994-D70E-41AC-9E5E-BA7E5124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527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0% direct injection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26B14-0355-4C1A-84A9-A2F58118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Explicit instruction override was neutralized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DB43C-9473-4140-BF9C-6BB4A5D6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053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FCD79-B15D-4AD7-BA71-CC2F1EA8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148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Residual weakness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7C2F6-E156-4537-9FB6-4AE78B6E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Keyword stuffing and role-play still exceed 82% ASR</a:t>
            </a:r>
          </a:p>
        </p:txBody>
      </p:sp>
    </p:spTree>
    <p:extLst>
      <p:ext uri="{BB962C8B-B14F-4D97-AF65-F5344CB8AC3E}">
        <p14:creationId xmlns:p14="http://schemas.microsoft.com/office/powerpoint/2010/main" val="14778553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19E18-4044-4607-AB64-E798C7A6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3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Masking removed observed counterfactual gaps in this synthetic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CC057-83E2-478F-A6AA-491A198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6858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31b0741467456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2D8E0-792A-4662-A856-29FAB62B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B85C3-AF75-40CF-A58B-09A2A989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906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1.08 → 0.00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0BAAA-A6A0-41BC-B63D-ACD383C4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Mean defended gap: raw vs masked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A9AED-099C-406E-847D-C744840C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32117-489E-4B92-94C5-3A6DB64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527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 was most sensitive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CC2BD-E7B8-49D0-9175-9E5C8D4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Baseline raw age gap reached 7.5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A8FE5-E60B-4EF7-90BC-D4C0159A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053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8A385-A93B-4638-B947-826D0C3B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148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Evidence, not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B014E-B764-4AD5-855F-FDD6FBDB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10 pairs per attribute; synthetic and non-intersectional</a:t>
            </a:r>
          </a:p>
        </p:txBody>
      </p:sp>
    </p:spTree>
    <p:extLst>
      <p:ext uri="{BB962C8B-B14F-4D97-AF65-F5344CB8AC3E}">
        <p14:creationId xmlns:p14="http://schemas.microsoft.com/office/powerpoint/2010/main" val="8828994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E13CA0E-26B3-4576-8120-645CAE63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90C5B5BB-7142-43AB-8AF1-F19E8806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8E78D19-4F7A-4571-B9CD-4D1C39DE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907CB04-9930-4CD7-8BC0-1E192E55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BF200FB-ECDE-4647-B9F9-A0B3A0D0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Explanation grounding is the clearest unresolved quality gap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19CDEC6-F77C-4283-9CF8-53E4E1D3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Evidence validity
Source-matched citations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BBA8A03-26C5-41E9-A773-60909CA8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Unsupported positives
Per candidate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7937122-BD61-4ACF-AB80-52382F6D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Rubric coverage
Criteria represented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635FD53-2024-4497-9A00-118FCBA5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28.7%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4D6DF49-6F2C-4D28-8CB7-EFA7C630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56.2%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8D8BFDF-D45F-4A96-B6AA-9D4F3929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2.81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D6FB2F7-FA08-42AC-B222-B91141E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THE AUDIT FOUND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model generated 4.86 evidence items per candidate on average, but only 1.46 were validated against the resume. Fluent rationales must not be treated as faithful evidence.</a:t>
            </a:r>
          </a:p>
        </p:txBody>
      </p:sp>
    </p:spTree>
    <p:extLst>
      <p:ext uri="{BB962C8B-B14F-4D97-AF65-F5344CB8AC3E}">
        <p14:creationId xmlns:p14="http://schemas.microsoft.com/office/powerpoint/2010/main" val="9563048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18FE2-C665-4BFD-B2DD-A3C28FF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3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Identical inputs were deterministic, but harmless structure changes still moved scores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6C86C-F61C-424A-9419-24F4D116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6858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71e56989ba451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67629-DFEB-4DC6-9C54-6BE4507D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9679F-0EE6-48C7-8392-C1A4BC3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906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100% repeatability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0B92B-FB80-4466-8C32-D468038B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Exact agreement under identical deterministic calls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6A0E4-7D88-4A27-80C0-D590532A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56402-B6D5-494B-8E9F-28AA552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527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60% overall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E0C05-15A4-4F67-959F-3D019545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Metamorphic tests within a three-point tolerance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78A66-97B1-4EFB-A86F-E47932D9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053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0B003-1DD3-4A74-AC09-D45CA3A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148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10.1-point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A8E6F-FE5B-4EDC-9D03-37F8864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Mean defended delta after section reordering</a:t>
            </a:r>
          </a:p>
        </p:txBody>
      </p:sp>
    </p:spTree>
    <p:extLst>
      <p:ext uri="{BB962C8B-B14F-4D97-AF65-F5344CB8AC3E}">
        <p14:creationId xmlns:p14="http://schemas.microsoft.com/office/powerpoint/2010/main" val="14270842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BCA3B-DB87-45E0-A20F-A17F795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3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defended pipeline ranked known qualification levels more accurately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58ED2-3D9A-459A-A1A0-C6CA4C74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6858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a63ca70a434a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CE8BC-6FA6-4141-8CA4-1EFDE787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37700-6F94-4CA5-AEBE-6648D4FC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906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0% failures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B81B6-5F0E-4982-BB8C-51B2AA1E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Both pipelines completed every benchmark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5BB2F-DE1B-4B2C-8C9A-375C9BD1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8010-461E-472D-B8E3-76FA275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527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100% pairwise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4E20D-7D14-408F-A143-EB6351F6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Strong candidates ranked above weak candidates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3B664-1223-4FC3-A781-B21F349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05325"/>
            <a:ext cx="4124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49663-EB23-4DD6-902C-C2ED700C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148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1% JSON retries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54A0F-7CDD-4E3B-B334-25BE74DF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Defended output occasionally needed repair prompting</a:t>
            </a:r>
          </a:p>
        </p:txBody>
      </p:sp>
    </p:spTree>
    <p:extLst>
      <p:ext uri="{BB962C8B-B14F-4D97-AF65-F5344CB8AC3E}">
        <p14:creationId xmlns:p14="http://schemas.microsoft.com/office/powerpoint/2010/main" val="20040056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4D72055-D565-45AC-9964-84CBDAA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68C693E-6A18-493A-BFCF-09AA9F6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4B1EFAF-024C-4750-9D3F-FFB8E16D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113BC33-2CDF-46C8-9397-910910CC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A1E0A01-C3AA-458B-9C1F-A7DA66BC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Governance converts uncertainty into mandatory human review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64289B0-037B-46AD-AE6E-C37A73B3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Human review
required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A9C4D76-B1C7-4E86-8727-ADEA8CE4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Automated final
decisions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EF65AE7-21FD-47F5-BEBB-D62350EC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Low-evidence
cases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3E64B14-A78B-4892-A459-979B13FF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92%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A1725FE-635E-4197-A59B-BBD223D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84%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1BE97DB-50E1-4FA8-84EA-50523E0E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1C3BEAE-4170-4E45-879E-9C130B6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POLICY OUTCOME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No automated hiring or rejection is permitted. Review triggers cover low evidence, manipulation risk, threshold proximity, protected-attribute references, retries, and pipeline errors.</a:t>
            </a:r>
          </a:p>
        </p:txBody>
      </p:sp>
    </p:spTree>
    <p:extLst>
      <p:ext uri="{BB962C8B-B14F-4D97-AF65-F5344CB8AC3E}">
        <p14:creationId xmlns:p14="http://schemas.microsoft.com/office/powerpoint/2010/main" val="7416604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A0A06C5-CFBB-4F0B-8636-84D8BC71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human in the loop—
and improve the evidence loop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DCD440B-D190-491F-B1B9-BFAC9E12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  Ground every score in source text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2  Normalize sections; detect stuffing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3  Recalibrate only after stability improves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99C69D1-6C61-4A09-81F8-119A9E99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</p:spTree>
    <p:extLst>
      <p:ext uri="{BB962C8B-B14F-4D97-AF65-F5344CB8AC3E}">
        <p14:creationId xmlns:p14="http://schemas.microsoft.com/office/powerpoint/2010/main" val="1619471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2026-08-03T12:04:01.1640000Z</dcterms:created>
  <dcterms:modified xsi:type="dcterms:W3CDTF">2026-08-03T12:04:01.1640000Z</dcterms:modified>
</coreProperties>
</file>